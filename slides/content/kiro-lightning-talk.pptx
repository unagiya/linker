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6" Type="http://schemas.openxmlformats.org/officeDocument/2006/relationships/viewProps" Target="viewProps.xml" /><Relationship Id="rId6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8" Type="http://schemas.openxmlformats.org/officeDocument/2006/relationships/tableStyles" Target="tableStyles.xml" /><Relationship Id="rId6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Kiroでアプリを作ってみた。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AI支援開発ツールを使った実体験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〜 AWS re:Invent 2025 から始まった開発の旅 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2025年12月16日 ライトニングトーク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👋 自己紹介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🧑‍💻 ソフトウェアエンジニア</a:t>
            </a:r>
          </a:p>
          <a:p>
            <a:pPr lvl="0"/>
            <a:r>
              <a:rPr/>
              <a:t>🌐 Web開発・フルスタック</a:t>
            </a:r>
          </a:p>
          <a:p>
            <a:pPr lvl="0"/>
            <a:r>
              <a:rPr/>
              <a:t>🤖 AI技術に興味</a:t>
            </a:r>
          </a:p>
          <a:p>
            <a:pPr lvl="0"/>
            <a:r>
              <a:rPr/>
              <a:t>📚 新しい開発手法を探求中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今回の発表について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AWS re:Invent 2025でAI開発ツールの進化を実感</a:t>
            </a:r>
          </a:p>
          <a:p>
            <a:pPr lvl="0"/>
            <a:r>
              <a:rPr/>
              <a:t>「実際に試してみよう！」</a:t>
            </a:r>
          </a:p>
          <a:p>
            <a:pPr lvl="0"/>
            <a:r>
              <a:rPr/>
              <a:t>Kiroを使ってLinkerアプリを開発</a:t>
            </a:r>
          </a:p>
          <a:p>
            <a:pPr lvl="0"/>
            <a:r>
              <a:rPr/>
              <a:t>その実体験をシェアします</a:t>
            </a:r>
          </a:p>
          <a:p>
            <a:pPr lvl="0" indent="0" marL="0">
              <a:buNone/>
            </a:pPr>
            <a:r>
              <a:rPr b="1"/>
              <a:t>今日のゴール:</a:t>
            </a:r>
            <a:r>
              <a:rPr/>
              <a:t> AI支援開発の実際の効果と可能性をお伝えします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🚀 AWS re:Invent 2025 での発見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 Vegasで感じたAI開発ツールの進化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印象的だった3つのAIツール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ツール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説明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🔧 </a:t>
                      </a:r>
                      <a:r>
                        <a:rPr b="1"/>
                        <a:t>AWS DevOpsAgent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CI/CDパイプラインの自動最適化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🛡️ </a:t>
                      </a:r>
                      <a:r>
                        <a:rPr b="1"/>
                        <a:t>AWS SecurityAgent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リアルタイム脅威検出・対応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📊 </a:t>
                      </a:r>
                      <a:r>
                        <a:rPr b="1"/>
                        <a:t>Datadog Bits 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監視データの自動分析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💡 re:Inventで見えたトレンド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🔥 AI支援開発の急速な普及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コード生成だけでなく、開発プロセス全体をサポート</a:t>
            </a:r>
          </a:p>
          <a:p>
            <a:pPr lvl="0"/>
            <a:r>
              <a:rPr/>
              <a:t>要件定義から運用まで一貫したAI支援</a:t>
            </a:r>
          </a:p>
          <a:p>
            <a:pPr lvl="0"/>
            <a:r>
              <a:rPr/>
              <a:t>品質向上と開発速度の両立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🤔 でも実際のところは？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デモは素晴らしいけど…</a:t>
            </a:r>
          </a:p>
          <a:p>
            <a:pPr lvl="0"/>
            <a:r>
              <a:rPr/>
              <a:t>実際の開発で使えるの？</a:t>
            </a:r>
          </a:p>
          <a:p>
            <a:pPr lvl="0"/>
            <a:r>
              <a:rPr/>
              <a:t>本当に効果があるの？</a:t>
            </a:r>
          </a:p>
          <a:p>
            <a:pPr lvl="0" indent="0" marL="0">
              <a:buNone/>
            </a:pPr>
            <a:r>
              <a:rPr b="1"/>
              <a:t>そこで…</a:t>
            </a:r>
            <a:r>
              <a:rPr/>
              <a:t> 実際にAI支援開発ツールを試してみることにしました！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🤖 Kiroとの出会い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AI支援開発プラットフォーム・IDEアシスタント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Kiroの特徴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Spec駆動開発</a:t>
            </a:r>
            <a:r>
              <a:rPr/>
              <a:t>: 要件→設計→実装の流れを体系化</a:t>
            </a:r>
          </a:p>
          <a:p>
            <a:pPr lvl="0"/>
            <a:r>
              <a:rPr b="1"/>
              <a:t>プロパティベーステスト</a:t>
            </a:r>
            <a:r>
              <a:rPr/>
              <a:t>: 従来のテスト手法を超えた品質保証</a:t>
            </a:r>
          </a:p>
          <a:p>
            <a:pPr lvl="0"/>
            <a:r>
              <a:rPr b="1"/>
              <a:t>コード生成</a:t>
            </a:r>
            <a:r>
              <a:rPr/>
              <a:t>: 設計に基づいた実装の自動化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🆚 従来の開発との違い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従来の開発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Kiroを使った開発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要件があいまい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構造化された要件定義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設計と実装が乖離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設計から実装への一貫性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テストが後回し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品質を保証するテスト戦略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🤷‍♂️ なぜKiroを選んだのか？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選択理由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📋 </a:t>
            </a:r>
            <a:r>
              <a:rPr b="1"/>
              <a:t>体系的なアプローチ</a:t>
            </a:r>
            <a:r>
              <a:rPr/>
              <a:t>: 単なるコード生成ではなく、開発プロセス全体をサポート</a:t>
            </a:r>
          </a:p>
          <a:p>
            <a:pPr lvl="0"/>
            <a:r>
              <a:rPr/>
              <a:t>🔍 </a:t>
            </a:r>
            <a:r>
              <a:rPr b="1"/>
              <a:t>品質重視</a:t>
            </a:r>
            <a:r>
              <a:rPr/>
              <a:t>: プロパティベーステストで高い品質を実現</a:t>
            </a:r>
          </a:p>
          <a:p>
            <a:pPr lvl="0"/>
            <a:r>
              <a:rPr/>
              <a:t>🎓 </a:t>
            </a:r>
            <a:r>
              <a:rPr b="1"/>
              <a:t>学習効果</a:t>
            </a:r>
            <a:r>
              <a:rPr/>
              <a:t>: AIと協働しながら開発スキルも向上</a:t>
            </a:r>
          </a:p>
          <a:p>
            <a:pPr lvl="0" indent="0" marL="0">
              <a:buNone/>
            </a:pPr>
            <a:r>
              <a:rPr b="1"/>
              <a:t>決め手:</a:t>
            </a:r>
            <a:r>
              <a:rPr/>
              <a:t> 「正しいソフトウェアを正しく作る」という哲学に共感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🛠️ 実際の開発プロセス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「Linker」- エンジニアプロフィール共有プラットフォーム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開発フロー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要件定義</a:t>
            </a:r>
            <a:r>
              <a:rPr/>
              <a:t>: EARS形式で明確な要件を定義</a:t>
            </a:r>
          </a:p>
          <a:p>
            <a:pPr lvl="0" indent="-342900" marL="342900">
              <a:buAutoNum type="arabicPeriod"/>
            </a:pPr>
            <a:r>
              <a:rPr b="1"/>
              <a:t>設計</a:t>
            </a:r>
            <a:r>
              <a:rPr/>
              <a:t>: アーキテクチャと正確性プロパティを設計</a:t>
            </a:r>
          </a:p>
          <a:p>
            <a:pPr lvl="0" indent="-342900" marL="342900">
              <a:buAutoNum type="arabicPeriod"/>
            </a:pPr>
            <a:r>
              <a:rPr b="1"/>
              <a:t>実装</a:t>
            </a:r>
            <a:r>
              <a:rPr/>
              <a:t>: タスクベースで段階的に実装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📋 Spec機能の威力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要件定義フェーズ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## 要件 1: アカウント登録</a:t>
            </a:r>
            <a:br/>
            <a:br/>
            <a:r>
              <a:rPr>
                <a:latin typeface="Courier"/>
              </a:rPr>
              <a:t>**ユーザーストーリー:** エンジニアとして、</a:t>
            </a:r>
            <a:br/>
            <a:r>
              <a:rPr>
                <a:latin typeface="Courier"/>
              </a:rPr>
              <a:t>アカウントを作成したいので、プロフィールを</a:t>
            </a:r>
            <a:br/>
            <a:r>
              <a:rPr>
                <a:latin typeface="Courier"/>
              </a:rPr>
              <a:t>作成して管理できるようにしたい。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#### 受け入れ基準</a:t>
            </a:r>
            <a:br/>
            <a:r>
              <a:rPr>
                <a:solidFill>
                  <a:srgbClr val="BB6688"/>
                </a:solidFill>
                <a:latin typeface="Courier"/>
              </a:rPr>
              <a:t>1. </a:t>
            </a:r>
            <a:r>
              <a:rPr>
                <a:latin typeface="Courier"/>
              </a:rPr>
              <a:t>WHEN ユーザーが登録ページにアクセスする </a:t>
            </a:r>
            <a:br/>
            <a:r>
              <a:rPr>
                <a:latin typeface="Courier"/>
              </a:rPr>
              <a:t>   THEN Linker SHALL メールアドレスと</a:t>
            </a:r>
            <a:br/>
            <a:r>
              <a:rPr>
                <a:latin typeface="Courier"/>
              </a:rPr>
              <a:t>   パスワードの入力フォームを表示する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設計フェーズ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interface</a:t>
            </a:r>
            <a:r>
              <a:rPr>
                <a:latin typeface="Courier"/>
              </a:rPr>
              <a:t> Profile {</a:t>
            </a:r>
            <a:br/>
            <a:r>
              <a:rPr>
                <a:latin typeface="Courier"/>
              </a:rPr>
              <a:t>  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user_id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jobTitle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bio</a:t>
            </a:r>
            <a:r>
              <a:rPr>
                <a:solidFill>
                  <a:srgbClr val="666666"/>
                </a:solidFill>
                <a:latin typeface="Courier"/>
              </a:rPr>
              <a:t>?: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imageUrl</a:t>
            </a:r>
            <a:r>
              <a:rPr>
                <a:solidFill>
                  <a:srgbClr val="666666"/>
                </a:solidFill>
                <a:latin typeface="Courier"/>
              </a:rPr>
              <a:t>?: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skills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[]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yearsOfExperience</a:t>
            </a:r>
            <a:r>
              <a:rPr>
                <a:solidFill>
                  <a:srgbClr val="666666"/>
                </a:solidFill>
                <a:latin typeface="Courier"/>
              </a:rPr>
              <a:t>?: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number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socialLinks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SocialLink[]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createdAt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updatedAt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ポイント:</a:t>
            </a:r>
            <a:r>
              <a:rPr/>
              <a:t> 要件→設計→実装の一貫性をKiroが保証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🧪 プロパティベーステストの革新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従来のテスト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特定のケースをテスト</a:t>
            </a:r>
            <a:br/>
            <a:r>
              <a:rPr>
                <a:solidFill>
                  <a:srgbClr val="06287E"/>
                </a:solidFill>
                <a:latin typeface="Courier"/>
              </a:rPr>
              <a:t>test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'プロフィール作成'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()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profile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createProfile</a:t>
            </a:r>
            <a:r>
              <a:rPr>
                <a:latin typeface="Courier"/>
              </a:rPr>
              <a:t>({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"田中太郎"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jobTitle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"エンジニア"</a:t>
            </a:r>
            <a:br/>
            <a:r>
              <a:rPr>
                <a:latin typeface="Courier"/>
              </a:rPr>
              <a:t>  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expect</a:t>
            </a:r>
            <a:r>
              <a:rPr>
                <a:latin typeface="Courier"/>
              </a:rPr>
              <a:t>(profile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name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toBe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"田中太郎"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/>
              <a:t>❌ 限定的なケースのみ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プロパティベーステスト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普遍的な性質をテスト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property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'プロフィール作成の一貫性'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fc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record</a:t>
            </a:r>
            <a:r>
              <a:rPr>
                <a:latin typeface="Courier"/>
              </a:rPr>
              <a:t>({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fc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jobTitle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fc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()</a:t>
            </a:r>
            <a:br/>
            <a:r>
              <a:rPr>
                <a:latin typeface="Courier"/>
              </a:rPr>
              <a:t>  })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(data)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profile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createProfile</a:t>
            </a:r>
            <a:r>
              <a:rPr>
                <a:latin typeface="Courier"/>
              </a:rPr>
              <a:t>(data)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profile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name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===</a:t>
            </a:r>
            <a:r>
              <a:rPr>
                <a:latin typeface="Courier"/>
              </a:rPr>
              <a:t> 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name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&amp;&amp;</a:t>
            </a:r>
            <a:br/>
            <a:r>
              <a:rPr>
                <a:latin typeface="Courier"/>
              </a:rPr>
              <a:t>           profile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jobTitle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===</a:t>
            </a:r>
            <a:r>
              <a:rPr>
                <a:latin typeface="Courier"/>
              </a:rPr>
              <a:t> 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jobTitle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/>
              <a:t>✅ 100回以上のランダムテスト</a:t>
            </a:r>
          </a:p>
          <a:p>
            <a:pPr lvl="0" indent="0" marL="0">
              <a:buNone/>
            </a:pPr>
            <a:r>
              <a:rPr b="1"/>
              <a:t>結果:</a:t>
            </a:r>
            <a:r>
              <a:rPr/>
              <a:t> より多くのバグを発見し、高い品質を実現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🎉 開発成果 - Linkerアプリ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開発統計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83</a:t>
            </a:r>
            <a:r>
              <a:rPr/>
              <a:t> TypeScriptファイル</a:t>
            </a:r>
          </a:p>
          <a:p>
            <a:pPr lvl="0"/>
            <a:r>
              <a:rPr b="1"/>
              <a:t>10,933</a:t>
            </a:r>
            <a:r>
              <a:rPr/>
              <a:t> 総コード行数</a:t>
            </a:r>
          </a:p>
          <a:p>
            <a:pPr lvl="0"/>
            <a:r>
              <a:rPr b="1"/>
              <a:t>28</a:t>
            </a:r>
            <a:r>
              <a:rPr/>
              <a:t> テストファイル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⚡ 開発効率の向上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📅 </a:t>
            </a:r>
            <a:r>
              <a:rPr b="1"/>
              <a:t>開発期間:</a:t>
            </a:r>
            <a:r>
              <a:rPr/>
              <a:t> 約2週間</a:t>
            </a:r>
          </a:p>
          <a:p>
            <a:pPr lvl="0"/>
            <a:r>
              <a:rPr/>
              <a:t>🚀 </a:t>
            </a:r>
            <a:r>
              <a:rPr b="1"/>
              <a:t>従来比:</a:t>
            </a:r>
            <a:r>
              <a:rPr/>
              <a:t> 30-40%の時間短縮</a:t>
            </a:r>
          </a:p>
          <a:p>
            <a:pPr lvl="0"/>
            <a:r>
              <a:rPr/>
              <a:t>🐛 </a:t>
            </a:r>
            <a:r>
              <a:rPr b="1"/>
              <a:t>バグ発見:</a:t>
            </a:r>
            <a:r>
              <a:rPr/>
              <a:t> 早期段階で品質問題を特定</a:t>
            </a:r>
          </a:p>
          <a:p>
            <a:pPr lvl="0"/>
            <a:r>
              <a:rPr/>
              <a:t>📝 </a:t>
            </a:r>
            <a:r>
              <a:rPr b="1"/>
              <a:t>ドキュメント:</a:t>
            </a:r>
            <a:r>
              <a:rPr/>
              <a:t> 要件と実装の一貫性を維持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🛠️ 完成したLinkerの技術スタック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フロントエンド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⚛️ React 19 + TypeScript</a:t>
            </a:r>
          </a:p>
          <a:p>
            <a:pPr lvl="0"/>
            <a:r>
              <a:rPr/>
              <a:t>🛣️ React Router v7</a:t>
            </a:r>
          </a:p>
          <a:p>
            <a:pPr lvl="0"/>
            <a:r>
              <a:rPr/>
              <a:t>🎨 レスポンシブUI</a:t>
            </a:r>
          </a:p>
          <a:p>
            <a:pPr lvl="0"/>
            <a:r>
              <a:rPr/>
              <a:t>⚡ Vite (高速ビルド)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バックエンド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🗄️ Supabase (PostgreSQL)</a:t>
            </a:r>
          </a:p>
          <a:p>
            <a:pPr lvl="0"/>
            <a:r>
              <a:rPr/>
              <a:t>🔐 Supabase Auth</a:t>
            </a:r>
          </a:p>
          <a:p>
            <a:pPr lvl="0"/>
            <a:r>
              <a:rPr/>
              <a:t>🛡️ Row Level Security (RLS)</a:t>
            </a:r>
          </a:p>
          <a:p>
            <a:pPr lvl="0"/>
            <a:r>
              <a:rPr/>
              <a:t>📁 Supabase Storage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実装された主要機能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🔐 アカウント登録・ログイン</a:t>
            </a:r>
          </a:p>
          <a:p>
            <a:pPr lvl="0"/>
            <a:r>
              <a:rPr/>
              <a:t>👤 プロフィール作成・編集・削除</a:t>
            </a:r>
          </a:p>
          <a:p>
            <a:pPr lvl="0"/>
            <a:r>
              <a:rPr/>
              <a:t>🖼️ 画像アップロード (5MB制限)</a:t>
            </a:r>
          </a:p>
          <a:p>
            <a:pPr lvl="0"/>
            <a:r>
              <a:rPr/>
              <a:t>🔗 SNSリンク管理</a:t>
            </a:r>
          </a:p>
          <a:p>
            <a:pPr lvl="0"/>
            <a:r>
              <a:rPr/>
              <a:t>📤 共有可能なURL生成</a:t>
            </a:r>
          </a:p>
          <a:p>
            <a:pPr lvl="0"/>
            <a:r>
              <a:rPr/>
              <a:t>📱 レスポンシブデザイン</a:t>
            </a:r>
          </a:p>
          <a:p>
            <a:pPr lvl="0"/>
            <a:r>
              <a:rPr/>
              <a:t>🔒 所有者制御 (RLS)</a:t>
            </a:r>
          </a:p>
          <a:p>
            <a:pPr lvl="0" indent="0" marL="0">
              <a:buNone/>
            </a:pPr>
            <a:r>
              <a:rPr b="1"/>
              <a:t>すべての機能が要件通りに実装完了！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📈 品質向上の具体的成果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テスト結果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🧪 </a:t>
            </a:r>
            <a:r>
              <a:rPr b="1"/>
              <a:t>プロパティベーステスト</a:t>
            </a:r>
            <a:r>
              <a:rPr/>
              <a:t>: 15個のプロパティで包括的テスト（各プロパティ100回以上実行）</a:t>
            </a:r>
          </a:p>
          <a:p>
            <a:pPr lvl="0"/>
            <a:r>
              <a:rPr/>
              <a:t>✅ </a:t>
            </a:r>
            <a:r>
              <a:rPr b="1"/>
              <a:t>テストカバレッジ</a:t>
            </a:r>
            <a:r>
              <a:rPr/>
              <a:t>: 90%以上の高いカバレッジ（ユニット + プロパティテスト）</a:t>
            </a:r>
          </a:p>
          <a:p>
            <a:pPr lvl="0"/>
            <a:r>
              <a:rPr/>
              <a:t>🎯 </a:t>
            </a:r>
            <a:r>
              <a:rPr b="1"/>
              <a:t>要件トレーサビリティ</a:t>
            </a:r>
            <a:r>
              <a:rPr/>
              <a:t>: すべての機能が要件と紐付け（設計→実装の一貫性を保証）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🔍 発見できたバグの例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プロフィール画像の削除処理の不備</a:t>
            </a:r>
          </a:p>
          <a:p>
            <a:pPr lvl="0"/>
            <a:r>
              <a:rPr/>
              <a:t>SNSリンクのバリデーション漏れ</a:t>
            </a:r>
          </a:p>
          <a:p>
            <a:pPr lvl="0"/>
            <a:r>
              <a:rPr/>
              <a:t>エッジケースでの状態管理エラー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💡 Kiroの支援効果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要件の曖昧さを早期発見</a:t>
            </a:r>
          </a:p>
          <a:p>
            <a:pPr lvl="0"/>
            <a:r>
              <a:rPr/>
              <a:t>設計の一貫性チェック</a:t>
            </a:r>
          </a:p>
          <a:p>
            <a:pPr lvl="0"/>
            <a:r>
              <a:rPr/>
              <a:t>テスト戦略の体系化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🎬 ライブデモ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実際のLinkerアプリを見てみましょう！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デモシナリオ:</a:t>
            </a:r>
            <a:r>
              <a:rPr/>
              <a:t> ユーザー登録 → プロフィール作成 → 共有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デモの流れ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アカウント登録</a:t>
            </a:r>
          </a:p>
          <a:p>
            <a:pPr lvl="0" indent="-342900" marL="342900">
              <a:buAutoNum type="arabicPeriod"/>
            </a:pPr>
            <a:r>
              <a:rPr/>
              <a:t>プロフィール情報入力</a:t>
            </a:r>
          </a:p>
          <a:p>
            <a:pPr lvl="0" indent="-342900" marL="342900">
              <a:buAutoNum type="arabicPeriod"/>
            </a:pPr>
            <a:r>
              <a:rPr/>
              <a:t>画像アップロード</a:t>
            </a:r>
          </a:p>
          <a:p>
            <a:pPr lvl="0" indent="-342900" marL="342900">
              <a:buAutoNum type="arabicPeriod"/>
            </a:pPr>
            <a:r>
              <a:rPr/>
              <a:t>SNSリンク追加</a:t>
            </a:r>
          </a:p>
          <a:p>
            <a:pPr lvl="0" indent="-342900" marL="342900">
              <a:buAutoNum type="arabicPeriod"/>
            </a:pPr>
            <a:r>
              <a:rPr/>
              <a:t>プロフィール表示確認</a:t>
            </a:r>
          </a:p>
          <a:p>
            <a:pPr lvl="0" indent="-342900" marL="342900">
              <a:buAutoNum type="arabicPeriod"/>
            </a:pPr>
            <a:r>
              <a:rPr/>
              <a:t>共有URL生成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アクセス方法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Linkerアプリ:</a:t>
            </a:r>
            <a:r>
              <a:rPr/>
              <a:t> http://localhost:5173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📱 動作確認済み環境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Chrome, Firefox, Safari, Edge</a:t>
            </a:r>
          </a:p>
          <a:p>
            <a:pPr lvl="0"/>
            <a:r>
              <a:rPr/>
              <a:t>デスクトップ・モバイル対応</a:t>
            </a:r>
          </a:p>
          <a:p>
            <a:pPr lvl="0"/>
            <a:r>
              <a:rPr/>
              <a:t>レスポンシブデザイン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🎓 開発を通じて得た学び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AI支援開発の利点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🚀 </a:t>
            </a:r>
            <a:r>
              <a:rPr b="1"/>
              <a:t>開発速度の向上</a:t>
            </a:r>
            <a:r>
              <a:rPr/>
              <a:t>: 要件→設計→実装の流れが体系化され、迷いが減少</a:t>
            </a:r>
          </a:p>
          <a:p>
            <a:pPr lvl="0"/>
            <a:r>
              <a:rPr/>
              <a:t>📋 </a:t>
            </a:r>
            <a:r>
              <a:rPr b="1"/>
              <a:t>品質の向上</a:t>
            </a:r>
            <a:r>
              <a:rPr/>
              <a:t>: プロパティベーステストで従来見つからないバグを発見</a:t>
            </a:r>
          </a:p>
          <a:p>
            <a:pPr lvl="0"/>
            <a:r>
              <a:rPr/>
              <a:t>📚 </a:t>
            </a:r>
            <a:r>
              <a:rPr b="1"/>
              <a:t>学習効果</a:t>
            </a:r>
            <a:r>
              <a:rPr/>
              <a:t>: AIとの協働で開発手法やベストプラクティスを習得</a:t>
            </a:r>
          </a:p>
          <a:p>
            <a:pPr lvl="0"/>
            <a:r>
              <a:rPr/>
              <a:t>🔄 </a:t>
            </a:r>
            <a:r>
              <a:rPr b="1"/>
              <a:t>一貫性の保証</a:t>
            </a:r>
            <a:r>
              <a:rPr/>
              <a:t>: 要件と実装の乖離を防ぎ、トレーサビリティを確保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課題と注意点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🤔 </a:t>
            </a:r>
            <a:r>
              <a:rPr b="1"/>
              <a:t>初期学習コスト</a:t>
            </a:r>
            <a:r>
              <a:rPr/>
              <a:t>: 新しい開発手法に慣れるまで時間が必要</a:t>
            </a:r>
          </a:p>
          <a:p>
            <a:pPr lvl="0"/>
            <a:r>
              <a:rPr/>
              <a:t>🎯 </a:t>
            </a:r>
            <a:r>
              <a:rPr b="1"/>
              <a:t>要件定義の重要性</a:t>
            </a:r>
            <a:r>
              <a:rPr/>
              <a:t>: 曖昧な要件では効果が半減、明確化が必須</a:t>
            </a:r>
          </a:p>
          <a:p>
            <a:pPr lvl="0"/>
            <a:r>
              <a:rPr/>
              <a:t>🔧 </a:t>
            </a:r>
            <a:r>
              <a:rPr b="1"/>
              <a:t>ツール依存</a:t>
            </a:r>
            <a:r>
              <a:rPr/>
              <a:t>: AIツールの特性を理解して適切に活用する必要</a:t>
            </a:r>
          </a:p>
          <a:p>
            <a:pPr lvl="0"/>
            <a:r>
              <a:rPr/>
              <a:t>👥 </a:t>
            </a:r>
            <a:r>
              <a:rPr b="1"/>
              <a:t>チーム導入</a:t>
            </a:r>
            <a:r>
              <a:rPr/>
              <a:t>: 個人開発と異なり、チーム全体での理解が重要</a:t>
            </a:r>
          </a:p>
          <a:p>
            <a:pPr lvl="0" indent="0" marL="0">
              <a:buNone/>
            </a:pPr>
            <a:r>
              <a:rPr b="1"/>
              <a:t>最大の学び:</a:t>
            </a:r>
            <a:r>
              <a:rPr/>
              <a:t> AIは「魔法の杖」ではなく、「優秀なペアプログラミングパートナー」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🔮 AI支援開発の今後の可能性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将来の展望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🏢 </a:t>
            </a:r>
            <a:r>
              <a:rPr b="1"/>
              <a:t>エンタープライズ導入</a:t>
            </a:r>
            <a:r>
              <a:rPr/>
              <a:t>: 大規模プロジェクトでの品質向上と効率化</a:t>
            </a:r>
          </a:p>
          <a:p>
            <a:pPr lvl="0"/>
            <a:r>
              <a:rPr/>
              <a:t>🎓 </a:t>
            </a:r>
            <a:r>
              <a:rPr b="1"/>
              <a:t>教育分野への応用</a:t>
            </a:r>
            <a:r>
              <a:rPr/>
              <a:t>: プログラミング学習の新しいアプローチ</a:t>
            </a:r>
          </a:p>
          <a:p>
            <a:pPr lvl="0"/>
            <a:r>
              <a:rPr/>
              <a:t>🤝 </a:t>
            </a:r>
            <a:r>
              <a:rPr b="1"/>
              <a:t>チーム開発の進化</a:t>
            </a:r>
            <a:r>
              <a:rPr/>
              <a:t>: AIを含めた新しい協働スタイルの確立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技術的な進歩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より高度なコード生成</a:t>
            </a:r>
          </a:p>
          <a:p>
            <a:pPr lvl="0"/>
            <a:r>
              <a:rPr/>
              <a:t>リアルタイムコードレビュー</a:t>
            </a:r>
          </a:p>
          <a:p>
            <a:pPr lvl="0"/>
            <a:r>
              <a:rPr/>
              <a:t>自動テスト生成の精度向上</a:t>
            </a:r>
          </a:p>
          <a:p>
            <a:pPr lvl="0"/>
            <a:r>
              <a:rPr/>
              <a:t>設計パターンの自動提案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🌍 開発文化の変化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品質重視の開発プロセス</a:t>
            </a:r>
          </a:p>
          <a:p>
            <a:pPr lvl="0"/>
            <a:r>
              <a:rPr/>
              <a:t>ドキュメント駆動開発の普及</a:t>
            </a:r>
          </a:p>
          <a:p>
            <a:pPr lvl="0"/>
            <a:r>
              <a:rPr/>
              <a:t>継続的学習の重要性増大</a:t>
            </a:r>
          </a:p>
          <a:p>
            <a:pPr lvl="0"/>
            <a:r>
              <a:rPr/>
              <a:t>人間とAIの役割分担の明確化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🌟 Kiroが切り開く未来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「正しいソフトウェアを正しく作る」を実現するプラットフォーム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開発者への影響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スキル向上</a:t>
            </a:r>
            <a:r>
              <a:rPr/>
              <a:t>: AIとの協働で、より高度な開発スキルを習得</a:t>
            </a:r>
          </a:p>
          <a:p>
            <a:pPr lvl="0"/>
            <a:r>
              <a:rPr b="1"/>
              <a:t>創造性の解放</a:t>
            </a:r>
            <a:r>
              <a:rPr/>
              <a:t>: 単純作業から解放され、創造的な部分に集中</a:t>
            </a:r>
          </a:p>
          <a:p>
            <a:pPr lvl="0"/>
            <a:r>
              <a:rPr b="1"/>
              <a:t>継続学習</a:t>
            </a:r>
            <a:r>
              <a:rPr/>
              <a:t>: 進化するAI技術に合わせた学習が必要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🏭 業界への影響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品質標準の向上</a:t>
            </a:r>
            <a:r>
              <a:rPr/>
              <a:t>: プロパティベーステストが標準的な手法に</a:t>
            </a:r>
          </a:p>
          <a:p>
            <a:pPr lvl="0"/>
            <a:r>
              <a:rPr b="1"/>
              <a:t>開発効率の革命</a:t>
            </a:r>
            <a:r>
              <a:rPr/>
              <a:t>: 従来の2-3倍の開発速度を実現</a:t>
            </a:r>
          </a:p>
          <a:p>
            <a:pPr lvl="0"/>
            <a:r>
              <a:rPr b="1"/>
              <a:t>人材要件の変化</a:t>
            </a:r>
            <a:r>
              <a:rPr/>
              <a:t>: AI協働スキルが必須要件に</a:t>
            </a:r>
          </a:p>
          <a:p>
            <a:pPr lvl="0" indent="0" marL="0">
              <a:buNone/>
            </a:pPr>
            <a:r>
              <a:rPr b="1"/>
              <a:t>Kiroは単なるツールではなく、開発の未来を形作るプラットフォーム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🎯 まとめ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成果指標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🚀 </a:t>
            </a:r>
            <a:r>
              <a:rPr b="1"/>
              <a:t>開発効率</a:t>
            </a:r>
            <a:r>
              <a:rPr/>
              <a:t>: 30-40%の時間短縮を実現（要件→実装の一貫性）</a:t>
            </a:r>
          </a:p>
          <a:p>
            <a:pPr lvl="0"/>
            <a:r>
              <a:rPr/>
              <a:t>🎯 </a:t>
            </a:r>
            <a:r>
              <a:rPr b="1"/>
              <a:t>品質向上</a:t>
            </a:r>
            <a:r>
              <a:rPr/>
              <a:t>: プロパティベーステスト（90%以上のカバレッジ）</a:t>
            </a:r>
          </a:p>
          <a:p>
            <a:pPr lvl="0"/>
            <a:r>
              <a:rPr/>
              <a:t>💡 </a:t>
            </a:r>
            <a:r>
              <a:rPr b="1"/>
              <a:t>学習効果</a:t>
            </a:r>
            <a:r>
              <a:rPr/>
              <a:t>: AIとの協働でスキル向上を実現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今日の成果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✅ AWS re:Inventから始まった探求の旅</a:t>
            </a:r>
          </a:p>
          <a:p>
            <a:pPr lvl="0"/>
            <a:r>
              <a:rPr/>
              <a:t>✅ Kiroを使った実際の開発体験</a:t>
            </a:r>
          </a:p>
          <a:p>
            <a:pPr lvl="0"/>
            <a:r>
              <a:rPr/>
              <a:t>✅ 具体的な成果と数値での効果検証</a:t>
            </a:r>
          </a:p>
          <a:p>
            <a:pPr lvl="0"/>
            <a:r>
              <a:rPr/>
              <a:t>✅ AI支援開発の可能性と課題の共有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次のアクション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🔍 Kiroを実際に試してみる</a:t>
            </a:r>
          </a:p>
          <a:p>
            <a:pPr lvl="0"/>
            <a:r>
              <a:rPr/>
              <a:t>📚 プロパティベーステストを学ぶ</a:t>
            </a:r>
          </a:p>
          <a:p>
            <a:pPr lvl="0"/>
            <a:r>
              <a:rPr/>
              <a:t>🤝 チームでAI支援開発を検討</a:t>
            </a:r>
          </a:p>
          <a:p>
            <a:pPr lvl="0"/>
            <a:r>
              <a:rPr/>
              <a:t>🌟 新しい開発手法にチャレンジ</a:t>
            </a:r>
          </a:p>
          <a:p>
            <a:pPr lvl="0" indent="0" marL="0">
              <a:buNone/>
            </a:pPr>
            <a:r>
              <a:rPr b="1"/>
              <a:t>AI支援開発は未来ではなく、今ここにある現実です！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❓ 質疑応答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🤔 よくある質問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Q: Kiroの学習コストは？</a:t>
            </a:r>
            <a:r>
              <a:rPr/>
              <a:t> A: 基本操作は1-2週間、効果的活用は1-2ヶ月程度</a:t>
            </a:r>
          </a:p>
          <a:p>
            <a:pPr lvl="0" indent="0" marL="0">
              <a:buNone/>
            </a:pPr>
            <a:r>
              <a:rPr b="1"/>
              <a:t>Q: 既存プロジェクトに導入可能？</a:t>
            </a:r>
            <a:r>
              <a:rPr/>
              <a:t> A: 段階的導入が可能、新機能から始めるのがおすすめ</a:t>
            </a:r>
          </a:p>
          <a:p>
            <a:pPr lvl="0" indent="0" marL="0">
              <a:buNone/>
            </a:pPr>
            <a:r>
              <a:rPr b="1"/>
              <a:t>Q: チーム開発での効果は？</a:t>
            </a:r>
            <a:r>
              <a:rPr/>
              <a:t> A: 要件の共通理解が向上、コードレビューが効率化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リソース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Linkerアプリ（デモ）</a:t>
            </a:r>
            <a:r>
              <a:rPr/>
              <a:t>: localhost:5173</a:t>
            </a:r>
          </a:p>
          <a:p>
            <a:pPr lvl="0"/>
            <a:r>
              <a:rPr b="1"/>
              <a:t>今日のスライド</a:t>
            </a:r>
            <a:r>
              <a:rPr/>
              <a:t>: 発表後に共有予定</a:t>
            </a:r>
          </a:p>
          <a:p>
            <a:pPr lvl="0" indent="0" marL="0">
              <a:buNone/>
            </a:pPr>
            <a:r>
              <a:rPr/>
              <a:t>💬 </a:t>
            </a:r>
            <a:r>
              <a:rPr b="1"/>
              <a:t>お気軽にお声がけください！</a:t>
            </a:r>
            <a:r>
              <a:rPr/>
              <a:t> AI支援開発について、もっと詳しくお話ししましょう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ありがとうございました！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🤖 AI支援開発の可能性を一緒に探求しましょう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「Kiroでアプリを作ってみた。」</a:t>
            </a:r>
            <a:r>
              <a:rPr/>
              <a:t> 〜 AWS re:Invent 2025 から始まった開発の旅 〜</a:t>
            </a:r>
          </a:p>
          <a:p>
            <a:pPr lvl="0" indent="0" marL="0">
              <a:buNone/>
            </a:pPr>
            <a:r>
              <a:rPr b="1"/>
              <a:t>2025年12月16日 ライトニングトーク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2025-12-16T10:55:43Z</dcterms:created>
  <dcterms:modified xsi:type="dcterms:W3CDTF">2025-12-16T10:55:43Z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